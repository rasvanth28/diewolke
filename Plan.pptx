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8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2800" b="1" dirty="0">
                <a:solidFill>
                  <a:srgbClr val="F8FAFC"/>
                </a:solidFill>
                <a:latin typeface="Outfit"/>
              </a:rPr>
              <a:t>Multi-Modal Satellite Cloud Removal &amp; Reconstruction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14500"/>
            <a:ext cx="52387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Optical satellites suffer up to 70% cloud blockage during critical Kharif cycles. Single-modality methods fail under dense cover. While SAR penetrates clouds, it lacks optical spectral properties. Furthermore, global benchmark models struggle with severe domain shifts on complex Indian smallholder fields.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28D5C1-1ED9-1C2E-61CD-30E342332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-1"/>
            <a:ext cx="581025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1" y="981075"/>
            <a:ext cx="5205046" cy="27332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047" y="981075"/>
            <a:ext cx="5272452" cy="27686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57650"/>
            <a:ext cx="5205047" cy="27332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047" y="4057650"/>
            <a:ext cx="5272452" cy="27332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1276350"/>
            <a:ext cx="533400" cy="647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2066925"/>
            <a:ext cx="189023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Data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2466975"/>
            <a:ext cx="48148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Build an end-to-end multi-modal data pipeline pairing 2-band Sentinel-1 SAR (VV, VH) with 13-band Sentinel-2 optical images.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1276350"/>
            <a:ext cx="619125" cy="647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0337" y="2066925"/>
            <a:ext cx="22002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Automated Masking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37" y="2466975"/>
            <a:ext cx="48148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Implement Stage 1 segmentation to generate precise binary masks ( ) identifying clouds and shadows.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352925"/>
            <a:ext cx="619125" cy="647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6775" y="5143500"/>
            <a:ext cx="30203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SAR-Guided Reconstruction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5543550"/>
            <a:ext cx="48148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Construct a Stage 2 deep fusion model conditioned on SAR features to reconstruct missing optical bands (R, G, B, NIR, SWIR).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337" y="4352925"/>
            <a:ext cx="571500" cy="647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10337" y="5143500"/>
            <a:ext cx="279034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Cross-Domain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337" y="5543550"/>
            <a:ext cx="481488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Validate benchmark performance on SEN12MS-CR and execute zero-shot dynamic testing over Indian monsoon agricultural zones via GEE.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1428750"/>
            <a:ext cx="304800" cy="3429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4637" y="1428750"/>
            <a:ext cx="390525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075" y="4505325"/>
            <a:ext cx="390525" cy="342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4637" y="4505325"/>
            <a:ext cx="342900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4412" y="2805856"/>
            <a:ext cx="1537841" cy="2230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-381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Project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8102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375" y="1477565"/>
            <a:ext cx="10525125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Classical Optical Interpolation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Spatiotemporal filtering and cloud-filling algorithms (e.g., DINEOF, localized linear regression) fail during extended multi-week cloud cover.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708076"/>
            <a:ext cx="10525125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Single-Modal Deep Learning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Autoencoders and GANs (e.g., STGAN) synthesize plausible textures but suffer from hallucination without structural ground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938587"/>
            <a:ext cx="10525125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Early Multi-Modal Fusion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Early SAR-optical combination models (e.g., DNSMS, Pix2Pix adaptations) struggle with non-aligned spatial features and color distortion.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5169098"/>
            <a:ext cx="10525125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State-of-the-Art Benchmark Frameworks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SEN12MS-CR baseline models demonstrate SAR-to-Optical translation efficacy but lack targeted downstream evaluation on dynamic agricultural vegetation indices like NDVI.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91853"/>
            <a:ext cx="266700" cy="276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22364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52875"/>
            <a:ext cx="2381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183385"/>
            <a:ext cx="238125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5839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Literature Survey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7751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9287"/>
            <a:ext cx="3492549" cy="403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19287"/>
            <a:ext cx="3492549" cy="403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19287"/>
            <a:ext cx="3492549" cy="403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214562"/>
            <a:ext cx="571500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005137"/>
            <a:ext cx="304709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Spectral Radiometric Distortion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90937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Existing models focus primarily on RGB visual plausibility rather than preserving radiometric fidelity in the NIR and SWIR bands.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214562"/>
            <a:ext cx="533400" cy="64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005137"/>
            <a:ext cx="294036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Spatial Alignment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405187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Current architectures often introduce high-frequency boundary artifacts when merging radar texture with optical background regions.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214562"/>
            <a:ext cx="619125" cy="647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005137"/>
            <a:ext cx="304709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Lack of Monsoon Generalization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690937"/>
            <a:ext cx="29019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Most literature evaluates models exclusively on static global datasets without testing performance against severe real-time monsoon cloud cover.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36696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374" y="2366962"/>
            <a:ext cx="3048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7674" y="2366962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Research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38337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47862"/>
            <a:ext cx="5267325" cy="398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1330821"/>
            <a:ext cx="4762500" cy="1601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Two-Stage Modular Architecture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Decouples explicit cloud/shadow mask generation (Stage 1) from SAR-conditioned multi-spectral reconstruction (Stage 2) to eliminate feature confusion.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3170932"/>
            <a:ext cx="4762500" cy="1601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Physics-Informed Spectral Loss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Integrates an explicit NDVI-preserving loss function alongside spatial losses to ensure reconstructed pixel values remain biologically meaningful for crops.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5011042"/>
            <a:ext cx="47625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Hybrid Cloud-Local Pipeline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Utilizes persistent local cloud NVMe caching for SEN12MS-CR benchmark training alongside dynamic Google Earth Engine API integration.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45108"/>
            <a:ext cx="33337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85219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25330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311646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Proposed Novelty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930771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6925"/>
            <a:ext cx="5286375" cy="3743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66925"/>
            <a:ext cx="5286375" cy="3743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457450"/>
            <a:ext cx="473059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Benchmark Dataset (SEN12MS-CR)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457450"/>
            <a:ext cx="473059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India-Specific Test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28575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2857500"/>
            <a:ext cx="426720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Sentinel-1 SAR: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Dual-polarization (VV, VH) at 10m spatial resolution.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360997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609975"/>
            <a:ext cx="426720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Sentinel-2 Optical: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13 multi-spectral bands (Cloudy input + Clear Ground Truth target).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3624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4362450"/>
            <a:ext cx="4267200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Volume &amp; Split: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Multi-gigabyte regional splits (e.g., Spring ROI subsets) mounted and extracted via Google Drive / Colab NVMe.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575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2857500"/>
            <a:ext cx="4267200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Dynamic Stream: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Real-time spatial subsets covering major Indian agricultural belts (e.g., Indo-Gangetic Plains / Punjab Paddy fields).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1477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914775"/>
            <a:ext cx="426720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Temporal Window: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Tailored specifically to the Kharif monsoon season (July–October).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6672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4667250"/>
            <a:ext cx="4267200" cy="6096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Application: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Direct GEE connection for downstream zero-shot testing.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Dataset Configuration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38337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47862"/>
            <a:ext cx="5267325" cy="398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1163835"/>
            <a:ext cx="47625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Stage 1 (Segmentation Masker)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Input: Cloudy 13-band Sentinel-2 Optical tensor. Output: Binary cloud/shadow mask 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699146"/>
            <a:ext cx="47625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Stage 2 (Reconstruction Network)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Inputs: Sentinel-1 SAR (VV, VH), Masked S2 Optical, and Binary Mask 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3929657"/>
            <a:ext cx="47625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Encoder-Decoder Backbone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Dual-stream U-Net / ResNet generator with cross-attention modules fusing radar structural feature maps into optical channels.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5464968"/>
            <a:ext cx="4762500" cy="1010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Final Generation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Output: Fully reconstructed 13-band cloud-free optical output 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78123"/>
            <a:ext cx="2381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" y="2190303"/>
            <a:ext cx="1537841" cy="22309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713434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7475" y="3472457"/>
            <a:ext cx="158799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943945"/>
            <a:ext cx="3048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479256"/>
            <a:ext cx="3048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0300" y="6152554"/>
            <a:ext cx="105965" cy="2370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14466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Proposed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76378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1483221"/>
            <a:ext cx="47625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Environment &amp; Infrastructure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Configured VS Code remote connection to Google Colab T4 Cloud GPU environments with Google Drive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3018532"/>
            <a:ext cx="47625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Data Ingestion &amp; Verification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Built and verified automated multi-stream downloaders (wget / tar) for massive SEN12MS-CR benchmark splits.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4553842"/>
            <a:ext cx="4762500" cy="1601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Multi-Modal Data Loading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Implemented custom PyTorch data loading pipelines and geospatial visualization scripts using rasterio and matplotlib to extract paired SAR (VV), Cloudy RGB, and Clear RGB ground-truth triplets.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97508"/>
            <a:ext cx="33337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32819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568130"/>
            <a:ext cx="266700" cy="276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64046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Current Implementation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83171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5286375" cy="4352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62125"/>
            <a:ext cx="5286375" cy="4352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152650"/>
            <a:ext cx="473059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Outfit SemiBold"/>
              </a:rPr>
              <a:t>Reconstruction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152650"/>
            <a:ext cx="473059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0B981"/>
                </a:solidFill>
                <a:latin typeface="Outfit SemiBold"/>
              </a:rPr>
              <a:t>Downstream Agricultural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2775" y="2952750"/>
            <a:ext cx="42672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Measures agreement between reconstructed NIR/Red vegetation index curves and clear temporal baselines over Indian agricultural zones.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62775" y="4314825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94A3B8"/>
                </a:solidFill>
                <a:latin typeface="Inter"/>
              </a:rPr>
              <a:t>Ensures pixel fidelity translates directly to agricultural analysis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5527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552700"/>
            <a:ext cx="4267200" cy="89716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Inter"/>
              </a:rPr>
              <a:t>PSNR (Peak Signal-to-Noise Ratio):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Measures absolute pixel-level reconstruction fidelity (Target: </a:t>
            </a:r>
            <a:r>
              <a:rPr lang="en-IN" sz="1500" b="0" i="0" u="none" dirty="0">
                <a:solidFill>
                  <a:srgbClr val="CBD5E1"/>
                </a:solidFill>
                <a:latin typeface="Inter"/>
              </a:rPr>
              <a:t>&gt; 28dB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609975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3609975"/>
            <a:ext cx="4267200" cy="89716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Inter"/>
              </a:rPr>
              <a:t>SSIM (Structural Similarity Index):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Evaluates spatial texture and geometric structure retention (Target:</a:t>
            </a:r>
            <a:r>
              <a:rPr lang="en-IN" sz="1500" b="0" i="0" u="none" dirty="0">
                <a:solidFill>
                  <a:srgbClr val="CBD5E1"/>
                </a:solidFill>
                <a:latin typeface="Inter"/>
              </a:rPr>
              <a:t> &gt; 0.88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66725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4667250"/>
            <a:ext cx="4267200" cy="914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SAM (Spectral Angle Mapper):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Quantifies radiometric spectral angle distortion across all 13 bands.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52700"/>
            <a:ext cx="1047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2552700"/>
            <a:ext cx="4267200" cy="3048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NDVI Mean Squared Error ( ):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325" y="2638425"/>
            <a:ext cx="767655" cy="1769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Evaluation Metrics &amp;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38337"/>
            <a:ext cx="5286375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947862"/>
            <a:ext cx="5267325" cy="3981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1325165"/>
            <a:ext cx="47625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Initialization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Automated mounting and validation of benchmark dataset streams.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75" y="2555676"/>
            <a:ext cx="47625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Inter SemiBold"/>
              </a:rPr>
              <a:t>Input Analysis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Side-by-side multi-spectral visualization of raw input pairs (SAR Radar vs. Cloudy Optical).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3786187"/>
            <a:ext cx="4762500" cy="992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Real-Time Inference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Preview showing predicted cloud masks and restored optical patches.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5016698"/>
            <a:ext cx="4762500" cy="1297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Dynamic GEE Rendering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Dynamic GEE bounding box query rendering reconstructed cloud-free optical maps over Indian test fields.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9453"/>
            <a:ext cx="2000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69964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00475"/>
            <a:ext cx="3048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30985"/>
            <a:ext cx="3048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30599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Interactive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92511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155924"/>
            <a:ext cx="10620375" cy="820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Ebel, P., Meraner, A., Schmitt, M., &amp; Zhu, X. X. (2020).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SEN12MS-CR: A dataset for cloud removal from multi-spectral Sentinel-2 imagery using Sentinel-1 SAR data. </a:t>
            </a:r>
            <a:r>
              <a:rPr sz="1350" b="0" i="1" u="none">
                <a:solidFill>
                  <a:srgbClr val="94A3B8"/>
                </a:solidFill>
                <a:latin typeface="Inter"/>
              </a:rPr>
              <a:t>IEEE Geoscience and Remote Sensing Letters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167211"/>
            <a:ext cx="10620375" cy="820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Meraner, A., Ebel, P., Zhu, X. X., &amp; Schmitt, M. (2020).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Cloud removal in Sentinel-2 imagery using a deep residual neural network and SAR-optical data fusion. </a:t>
            </a:r>
            <a:r>
              <a:rPr sz="1350" b="0" i="1" u="none">
                <a:solidFill>
                  <a:srgbClr val="94A3B8"/>
                </a:solidFill>
                <a:latin typeface="Inter"/>
              </a:rPr>
              <a:t>ISPRS Journal of Photogrammetry and Remote Sensing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178498"/>
            <a:ext cx="10620375" cy="58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Gorelick, N., et al. (2017).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Google Earth Engine: Planetary-scale geospatial analysis for everyone. </a:t>
            </a:r>
            <a:r>
              <a:rPr sz="1350" b="0" i="1" u="none">
                <a:solidFill>
                  <a:srgbClr val="94A3B8"/>
                </a:solidFill>
                <a:latin typeface="Inter"/>
              </a:rPr>
              <a:t>Remote Sensing of Environment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949874"/>
            <a:ext cx="10620375" cy="58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Isola, P., Zhu, J. Y., Zhou, T., &amp; Efros, A. A. (2017).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Image-to-image translation with conditional adversarial networks (Pix2Pix). </a:t>
            </a:r>
            <a:r>
              <a:rPr sz="1350" b="0" i="1" u="none">
                <a:solidFill>
                  <a:srgbClr val="94A3B8"/>
                </a:solidFill>
                <a:latin typeface="Inter"/>
              </a:rPr>
              <a:t>IEEE CVPR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0211"/>
            <a:ext cx="180975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81498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92785"/>
            <a:ext cx="18097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64162"/>
            <a:ext cx="1809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Outfit"/>
              </a:rPr>
              <a:t>References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Outfit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SUDHANSU PANIGRAHY</cp:lastModifiedBy>
  <cp:revision>2</cp:revision>
  <dcterms:created xsi:type="dcterms:W3CDTF">2013-01-27T09:14:16Z</dcterms:created>
  <dcterms:modified xsi:type="dcterms:W3CDTF">2026-08-24T17:52:22Z</dcterms:modified>
  <cp:category/>
</cp:coreProperties>
</file>