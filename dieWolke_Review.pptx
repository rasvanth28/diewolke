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ac632c1-f8d8-b316-4c2b-2c2ae2a595c1}">
          <p14:sldIdLst>
            <p14:sldId id="256"/>
            <p14:sldId id="257"/>
            <p14:sldId id="258"/>
            <p14:sldId id="259"/>
          </p14:sldIdLst>
        </p14:section>
        <p14:section name="Literature and gap" id="{68ec317c-699a-1b2d-e769-d29940c392f6}">
          <p14:sldIdLst>
            <p14:sldId id="260"/>
            <p14:sldId id="261"/>
          </p14:sldIdLst>
        </p14:section>
        <p14:section name="Method" id="{6e228faa-103c-02ee-bb8d-464b0fe43167}">
          <p14:sldIdLst>
            <p14:sldId id="262"/>
            <p14:sldId id="263"/>
            <p14:sldId id="264"/>
          </p14:sldIdLst>
        </p14:section>
        <p14:section name="Implementation and novelty" id="{113796c4-a665-072a-11c2-f75ef1bd6e1e}">
          <p14:sldIdLst>
            <p14:sldId id="265"/>
            <p14:sldId id="266"/>
            <p14:sldId id="267"/>
            <p14:sldId id="268"/>
          </p14:sldIdLst>
        </p14:section>
        <p14:section name="Results" id="{769f1421-34fe-219a-0fa1-98d6e9549f64}">
          <p14:sldIdLst>
            <p14:sldId id="269"/>
            <p14:sldId id="270"/>
            <p14:sldId id="271"/>
          </p14:sldIdLst>
        </p14:section>
        <p14:section name="Outcomes and conclusion" id="{e8559056-210b-d134-1c31-124e756ff2f3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A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2A3D"/>
                </a:solidFill>
                <a:latin typeface="+mn-lt"/>
              </a:rPr>
              <a:t>PSNR on SEN12MS-CR (dB, higher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PSNR (dB)</c:v>
                </c:pt>
              </c:strCache>
            </c:strRef>
          </c:tx>
          <c:spPr>
            <a:solidFill>
              <a:srgbClr val="2F6F9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DSen2-CR</c:v>
                  </c:pt>
                  <c:pt idx="1">
                    <c:v>UnCRtainTS</c:v>
                  </c:pt>
                  <c:pt idx="2">
                    <c:v>GLF-CR</c:v>
                  </c:pt>
                  <c:pt idx="3">
                    <c:v>DiffCR</c:v>
                  </c:pt>
                  <c:pt idx="4">
                    <c:v>DB-CR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30.29</c:v>
                </c:pt>
                <c:pt idx="1">
                  <c:v>31.28</c:v>
                </c:pt>
                <c:pt idx="2">
                  <c:v>31.85</c:v>
                </c:pt>
                <c:pt idx="3">
                  <c:v>32.25</c:v>
                </c:pt>
                <c:pt idx="4">
                  <c:v>33.47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  <c:min val="28"/>
        </c:scaling>
        <c:delete val="0"/>
        <c:axPos val="l"/>
        <c:majorGridlines>
          <c:spPr>
            <a:ln w="6350" cap="flat">
              <a:solidFill>
                <a:srgbClr val="DDE3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7F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is in progress: literature review, novelty positioning, data pipeline and the first experiment harness are done; model training and results are pending.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Kharif is the June/July to October monsoon crop season in India (rice, cotton, soybean, pulses). It overlaps the south-west monsoon, so optical scenes are mostly cloudy exactly during the growing season.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DB-CR and Gupta &amp; Verma checked against primary sources; others from two AI-assisted literature searches, to be verified manually before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Partial for Gupta &amp; Verma: they do Indian cloud reconstruction followed by paddy classification, but classical, no SAR, no exact-ground-truth protocol and no released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Patch layout: ROIs1158_spring_&lt;modality&gt;/&lt;modality&gt;_&lt;scene&gt;/ROIs1158_spring_&lt;modality&gt;_&lt;scene&gt;_p&lt;patch&gt;.tif. Triplets are matched by parsing (roi, modality, scene, patch) from the filename, which also fixes a path bug in the original visualisation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target from NOVELTY.md. Matched baseline = the same bridge model with C1-C3 removed. DB-CR reports single-step inference; we plan 128x128 crops and few-step sampling to fit a Colab T4.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experiments/mask_ablation.py (about 500 lines), datasets/VisuzalizeDataset.py and visualizeDataset.ipynb. All training runs on Google Colab GPU with Drive persistence; the local machine has no GPU or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Training clouds are transplanted: s2cloudless probability maps from real cloudy patches are blended onto clear patches with soft edges and a shifted, darkened shadow, so the true mask and target are known exactly. Evaluation runs on held-out scenes with synthetic clouds (exact ground truth) and with real SEN12MS-CR pairs (clear target from a different date, s2cloudless mask without shadows, so indicative only).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Maps to the course's novelty categories: improved model (C1), optimisation (C2), explainability/trust (C3), new dataset/application (C4). The novelty is the combination; each part alone is a modest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numbers yet. The harness writes results.md, results.json and sample PNGs to the output folder; this table is filled from results.md once the Colab run finishes.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Values from DB-CR, Table I (Hu et al., 2025, arXiv 2504.03607), DB-CR at NFE=1. These are published numbers, not our runs. DB-CR has no public code, so our fair comparison will be our own bridge model with C1-C3 removed, plus GLF-CR and UnCRtainTS which have public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dieWolke · Progress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atellite circle"/>
          <p:cNvSpPr/>
          <p:nvPr/>
        </p:nvSpPr>
        <p:spPr>
          <a:xfrm>
            <a:off x="731520" y="10515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satelli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139" y="1205179"/>
            <a:ext cx="332842" cy="332842"/>
          </a:xfrm>
          <a:prstGeom prst="rect">
            <a:avLst/>
          </a:prstGeom>
        </p:spPr>
      </p:pic>
      <p:sp>
        <p:nvSpPr>
          <p:cNvPr id="4" name="cloud circle"/>
          <p:cNvSpPr/>
          <p:nvPr/>
        </p:nvSpPr>
        <p:spPr>
          <a:xfrm>
            <a:off x="1554480" y="105156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cloud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99" y="1205179"/>
            <a:ext cx="332842" cy="332842"/>
          </a:xfrm>
          <a:prstGeom prst="rect">
            <a:avLst/>
          </a:prstGeom>
        </p:spPr>
      </p:pic>
      <p:sp>
        <p:nvSpPr>
          <p:cNvPr id="6" name="crop circle"/>
          <p:cNvSpPr/>
          <p:nvPr/>
        </p:nvSpPr>
        <p:spPr>
          <a:xfrm>
            <a:off x="2377440" y="10515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cro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1059" y="1205179"/>
            <a:ext cx="332842" cy="332842"/>
          </a:xfrm>
          <a:prstGeom prst="rect">
            <a:avLst/>
          </a:prstGeom>
        </p:spPr>
      </p:pic>
      <p:sp>
        <p:nvSpPr>
          <p:cNvPr id="8" name="status IN PROGRESS"/>
          <p:cNvSpPr txBox="1"/>
          <p:nvPr/>
        </p:nvSpPr>
        <p:spPr>
          <a:xfrm>
            <a:off x="9921240" y="548640"/>
            <a:ext cx="15087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9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dieWolke: SAR-Guided Cloud Removal for Sentinel-2</a:t>
            </a:r>
            <a:endParaRPr lang="en-US" sz="4000" dirty="0"/>
          </a:p>
        </p:txBody>
      </p:sp>
      <p:sp>
        <p:nvSpPr>
          <p:cNvPr id="10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All-band reconstruction with uncertainty for Indian Kharif crop monitoring</a:t>
            </a:r>
            <a:endParaRPr lang="en-US" sz="2200" dirty="0"/>
          </a:p>
        </p:txBody>
      </p:sp>
      <p:sp>
        <p:nvSpPr>
          <p:cNvPr id="11" name="Text 0"/>
          <p:cNvSpPr/>
          <p:nvPr>
            <p:ph idx="102" type="body" hasCustomPrompt="1"/>
          </p:nvPr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Progress review · October 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Student: ____________    Reg. No.: ____________    Guide: ____________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Monsoon clouds hide crops when monitoring matters most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417320"/>
            <a:ext cx="344728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5" name="stat icon circle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ta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182331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days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Sentinel-2 revisit time, but most monsoon acquisitions are cloud-covered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370832" y="1417320"/>
            <a:ext cx="344728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0" name="stat icon circle"/>
          <p:cNvSpPr/>
          <p:nvPr/>
        </p:nvSpPr>
        <p:spPr>
          <a:xfrm>
            <a:off x="4690872" y="169164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stat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546" y="1823314"/>
            <a:ext cx="285293" cy="28529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690872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Jul–Oct</a:t>
            </a:r>
            <a:endParaRPr lang="en-US" sz="4000" dirty="0"/>
          </a:p>
        </p:txBody>
      </p:sp>
      <p:sp>
        <p:nvSpPr>
          <p:cNvPr id="13" name="Text 8"/>
          <p:cNvSpPr txBox="1"/>
          <p:nvPr/>
        </p:nvSpPr>
        <p:spPr>
          <a:xfrm>
            <a:off x="4690872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Kharif crop season overlaps the south-west monsoon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93024" y="1417320"/>
            <a:ext cx="3447288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5" name="stat icon circle"/>
          <p:cNvSpPr/>
          <p:nvPr/>
        </p:nvSpPr>
        <p:spPr>
          <a:xfrm>
            <a:off x="8513064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stat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4738" y="1823314"/>
            <a:ext cx="285293" cy="28529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13064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bands</a:t>
            </a:r>
            <a:endParaRPr lang="en-US" sz="4000" dirty="0"/>
          </a:p>
        </p:txBody>
      </p:sp>
      <p:sp>
        <p:nvSpPr>
          <p:cNvPr id="18" name="Text 12"/>
          <p:cNvSpPr txBox="1"/>
          <p:nvPr/>
        </p:nvSpPr>
        <p:spPr>
          <a:xfrm>
            <a:off x="8513064" y="315468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Sentinel-2 bands, incl. red-edge, NIR and SWIR used for crop indices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251960"/>
            <a:ext cx="11091672" cy="182880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/>
        </p:spPr>
      </p:sp>
      <p:sp>
        <p:nvSpPr>
          <p:cNvPr id="20" name="SAR icon circle"/>
          <p:cNvSpPr/>
          <p:nvPr/>
        </p:nvSpPr>
        <p:spPr>
          <a:xfrm>
            <a:off x="868680" y="4754880"/>
            <a:ext cx="822960" cy="8229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SAR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90" y="4952390"/>
            <a:ext cx="427939" cy="42793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965960" y="4526280"/>
            <a:ext cx="9326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The opportunity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Sentinel-1 radar (SAR) images the same fields through cloud, day and night. If SAR can guide the reconstruction of the missing optical bands, crop indices such as NDVI and crop-type maps stay available through the monsoon.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Problem statement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17320"/>
            <a:ext cx="502920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Sentinel-2 optical circle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entinel-2 optical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1788566"/>
            <a:ext cx="309067" cy="30906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Sentinel-2 optical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✓  13 spectral bands (visible → SWIR)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✓  Direct input for NDVI and crop maps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✗  Blocked by cloud and cloud shadow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611112" y="1417320"/>
            <a:ext cx="5029200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Sentinel-1 SAR circle"/>
          <p:cNvSpPr/>
          <p:nvPr/>
        </p:nvSpPr>
        <p:spPr>
          <a:xfrm>
            <a:off x="6931152" y="164592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Sentinel-1 SA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3798" y="1788566"/>
            <a:ext cx="309067" cy="30906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708392" y="16459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Sentinel-1 SAR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931152" y="24688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✓  C-band radar sees through cloud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✓  Captures structure and moisture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✗  No optical reflectance; speckle noise</a:t>
            </a:r>
            <a:endParaRPr lang="en-US" sz="1600" dirty="0"/>
          </a:p>
        </p:txBody>
      </p:sp>
      <p:sp>
        <p:nvSpPr>
          <p:cNvPr id="13" name="fusion plus"/>
          <p:cNvSpPr/>
          <p:nvPr/>
        </p:nvSpPr>
        <p:spPr>
          <a:xfrm>
            <a:off x="5733288" y="237744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733288" y="23774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+</a:t>
            </a:r>
            <a:endParaRPr lang="en-US" sz="3000" dirty="0"/>
          </a:p>
        </p:txBody>
      </p:sp>
      <p:sp>
        <p:nvSpPr>
          <p:cNvPr id="15" name="card"/>
          <p:cNvSpPr/>
          <p:nvPr/>
        </p:nvSpPr>
        <p:spPr>
          <a:xfrm>
            <a:off x="548640" y="4389120"/>
            <a:ext cx="11091672" cy="1691640"/>
          </a:xfrm>
          <a:prstGeom prst="roundRect">
            <a:avLst>
              <a:gd name="adj" fmla="val 4324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68680" y="45720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Problem</a:t>
            </a:r>
            <a:endParaRPr lang="en-US" sz="1400" dirty="0"/>
          </a:p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Given a cloudy Sentinel-2 image and a co-registered Sentinel-1 SAR image, reconstruct all 13 cloud-free Sentinel-2 bands with spectrally faithful values and a per-pixel confidence, so that NDVI and crop classification on the result stay reliable.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Objectives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463040"/>
            <a:ext cx="2569464" cy="4480560"/>
          </a:xfrm>
          <a:prstGeom prst="roundRect">
            <a:avLst>
              <a:gd name="adj" fmla="val 2847"/>
            </a:avLst>
          </a:prstGeom>
          <a:solidFill>
            <a:schemeClr val="bg2"/>
          </a:solidFill>
          <a:ln/>
        </p:spPr>
      </p:sp>
      <p:sp>
        <p:nvSpPr>
          <p:cNvPr id="4" name="objective number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pipeline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290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Pair Sentinel-1 (VV, VH) with cloudy and clear 13-band Sentinel-2 patches from SEN12MS-CR.</a:t>
            </a:r>
            <a:endParaRPr lang="en-US" sz="1400" dirty="0"/>
          </a:p>
        </p:txBody>
      </p:sp>
      <p:sp>
        <p:nvSpPr>
          <p:cNvPr id="8" name="status DONE"/>
          <p:cNvSpPr txBox="1"/>
          <p:nvPr/>
        </p:nvSpPr>
        <p:spPr>
          <a:xfrm>
            <a:off x="822960" y="53949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9" name="card"/>
          <p:cNvSpPr/>
          <p:nvPr/>
        </p:nvSpPr>
        <p:spPr>
          <a:xfrm>
            <a:off x="3364992" y="1463040"/>
            <a:ext cx="2569464" cy="4480560"/>
          </a:xfrm>
          <a:prstGeom prst="roundRect">
            <a:avLst>
              <a:gd name="adj" fmla="val 2847"/>
            </a:avLst>
          </a:prstGeom>
          <a:solidFill>
            <a:schemeClr val="bg2"/>
          </a:solidFill>
          <a:ln/>
        </p:spPr>
      </p:sp>
      <p:sp>
        <p:nvSpPr>
          <p:cNvPr id="10" name="objective number"/>
          <p:cNvSpPr/>
          <p:nvPr/>
        </p:nvSpPr>
        <p:spPr>
          <a:xfrm>
            <a:off x="3639312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39312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39312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Cloud / shadow masking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4290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Stage 1 U-Net mask, and a controlled test of whether a separate mask helps reconstruction.</a:t>
            </a:r>
            <a:endParaRPr lang="en-US" sz="1400" dirty="0"/>
          </a:p>
        </p:txBody>
      </p:sp>
      <p:sp>
        <p:nvSpPr>
          <p:cNvPr id="14" name="status IN PROGRESS"/>
          <p:cNvSpPr txBox="1"/>
          <p:nvPr/>
        </p:nvSpPr>
        <p:spPr>
          <a:xfrm>
            <a:off x="3639312" y="53949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5" name="card"/>
          <p:cNvSpPr/>
          <p:nvPr/>
        </p:nvSpPr>
        <p:spPr>
          <a:xfrm>
            <a:off x="6181344" y="1463040"/>
            <a:ext cx="2569464" cy="4480560"/>
          </a:xfrm>
          <a:prstGeom prst="roundRect">
            <a:avLst>
              <a:gd name="adj" fmla="val 2847"/>
            </a:avLst>
          </a:prstGeom>
          <a:solidFill>
            <a:schemeClr val="bg2"/>
          </a:solidFill>
          <a:ln/>
        </p:spPr>
      </p:sp>
      <p:sp>
        <p:nvSpPr>
          <p:cNvPr id="16" name="objective number"/>
          <p:cNvSpPr/>
          <p:nvPr/>
        </p:nvSpPr>
        <p:spPr>
          <a:xfrm>
            <a:off x="6455664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55664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SAR-guided reconstruction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455664" y="34290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All-13-band diffusion-bridge model with band-group attention, NDVI loss and per-pixel uncertainty.</a:t>
            </a:r>
            <a:endParaRPr lang="en-US" sz="1400" dirty="0"/>
          </a:p>
        </p:txBody>
      </p:sp>
      <p:sp>
        <p:nvSpPr>
          <p:cNvPr id="20" name="status PLANNED"/>
          <p:cNvSpPr txBox="1"/>
          <p:nvPr/>
        </p:nvSpPr>
        <p:spPr>
          <a:xfrm>
            <a:off x="6455664" y="53949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21" name="card"/>
          <p:cNvSpPr/>
          <p:nvPr/>
        </p:nvSpPr>
        <p:spPr>
          <a:xfrm>
            <a:off x="8997696" y="1463040"/>
            <a:ext cx="2569464" cy="4480560"/>
          </a:xfrm>
          <a:prstGeom prst="roundRect">
            <a:avLst>
              <a:gd name="adj" fmla="val 2847"/>
            </a:avLst>
          </a:prstGeom>
          <a:solidFill>
            <a:schemeClr val="bg2"/>
          </a:solidFill>
          <a:ln/>
        </p:spPr>
      </p:sp>
      <p:sp>
        <p:nvSpPr>
          <p:cNvPr id="22" name="objective number"/>
          <p:cNvSpPr/>
          <p:nvPr/>
        </p:nvSpPr>
        <p:spPr>
          <a:xfrm>
            <a:off x="9272016" y="17373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272016" y="17373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9272016" y="265176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Evaluation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272016" y="3429000"/>
            <a:ext cx="2057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SEN12MS-CR benchmark, plus a new Indian Kharif benchmark with downstream crop classification.</a:t>
            </a:r>
            <a:endParaRPr lang="en-US" sz="1400" dirty="0"/>
          </a:p>
        </p:txBody>
      </p:sp>
      <p:sp>
        <p:nvSpPr>
          <p:cNvPr id="26" name="status PLANNED"/>
          <p:cNvSpPr txBox="1"/>
          <p:nvPr/>
        </p:nvSpPr>
        <p:spPr>
          <a:xfrm>
            <a:off x="9272016" y="53949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Literature survey: SAR–optical cloud removal</a:t>
            </a:r>
            <a:endParaRPr lang="en-US" sz="3000" dirty="0"/>
          </a:p>
        </p:txBody>
      </p:sp>
      <p:graphicFrame>
        <p:nvGraphicFramePr>
          <p:cNvPr id="6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914400"/>
                <a:gridCol w="1051560"/>
                <a:gridCol w="32735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Method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Bands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Limitation for our goal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DSen2-CR (Meraner et al., 2020)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Residual CNN, SAR–optical fusion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Deterministic; no uncertainty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GLF-CR (Xu et al., 2022)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Global–local SAR-guided fusion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uncertainty or index objective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UnCRtainTS (Ebel et al., 2023)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Attention + aleatoric uncertainty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Not generative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DiffCR (Zou et al., 2024)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 conditional diffusion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RGB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SAR, RGB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DB-CR (Hu et al., 2025)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SAR-conditioned diffusion bridge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L1 only; no band groups or uncertainty; no code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CloudBreaker (Ahmed et al., 2025)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Flow matching, S1 → S2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SAR only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RGB+NIR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bands; NDVI only evaluated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Gupta &amp; Verma (2025)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Classical gap-filling → crop maps, India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Classical ML (XGBoost), no SAR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DB-CR is the closest prior work and the main baseline.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Research gap: nobody combines all of these</a:t>
            </a:r>
            <a:endParaRPr lang="en-US" sz="3000" dirty="0"/>
          </a:p>
        </p:txBody>
      </p:sp>
      <p:graphicFrame>
        <p:nvGraphicFramePr>
          <p:cNvPr id="7" name="gap matrix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4142232"/>
                <a:gridCol w="1389888"/>
                <a:gridCol w="1389888"/>
                <a:gridCol w="1389888"/>
                <a:gridCol w="1389888"/>
                <a:gridCol w="1389888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DB-CR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CloudBreaker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UnCRtainTS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Gupta &amp; Verma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Proposed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13 bands reconstructed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SAR conditioning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Generative (diffusion / flow)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Band-group attention (RGB / red-edge–NIR / SWIR)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NDVI term in the training loss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Calibrated per-pixel uncertainty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Indian Kharif crop benchmark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chemeClr val="accent4"/>
                          </a:solidFill>
                        </a:rPr>
                        <a:t>✗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chemeClr val="accent3"/>
                          </a:solidFill>
                        </a:rPr>
                        <a:t>partial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accent6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"Proposed" = design target, not yet implemented. Gap based on two literature searches; DB-CR and Gupta &amp; Verma checked against primary sources; a manual Google Scholar check is pending.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Proposed framework: four-stage pipeline</a:t>
            </a:r>
            <a:endParaRPr lang="en-US" sz="3000" dirty="0"/>
          </a:p>
        </p:txBody>
      </p:sp>
      <p:pic>
        <p:nvPicPr>
          <p:cNvPr id="3" name="architecture diagram" descr="Four-stage pipeline: masking, SAR-conditioned diffusion-bridge reconstruction, optional temporal conditioning, validation harn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503920" cy="4590288"/>
          </a:xfrm>
          <a:prstGeom prst="rect">
            <a:avLst/>
          </a:prstGeom>
        </p:spPr>
      </p:pic>
      <p:sp>
        <p:nvSpPr>
          <p:cNvPr id="4" name="card"/>
          <p:cNvSpPr/>
          <p:nvPr/>
        </p:nvSpPr>
        <p:spPr>
          <a:xfrm>
            <a:off x="9326880" y="1325880"/>
            <a:ext cx="23134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9509760" y="14356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1  Cloud/shadow masking</a:t>
            </a:r>
            <a:endParaRPr lang="en-US" sz="1300" dirty="0"/>
          </a:p>
        </p:txBody>
      </p:sp>
      <p:sp>
        <p:nvSpPr>
          <p:cNvPr id="6" name="status IN PROGRESS"/>
          <p:cNvSpPr txBox="1"/>
          <p:nvPr/>
        </p:nvSpPr>
        <p:spPr>
          <a:xfrm>
            <a:off x="9509760" y="192938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7" name="card"/>
          <p:cNvSpPr/>
          <p:nvPr/>
        </p:nvSpPr>
        <p:spPr>
          <a:xfrm>
            <a:off x="9326880" y="2514600"/>
            <a:ext cx="23134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509760" y="2624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2  Diffusion-bridge reconstruction</a:t>
            </a:r>
            <a:endParaRPr lang="en-US" sz="1300" dirty="0"/>
          </a:p>
        </p:txBody>
      </p:sp>
      <p:sp>
        <p:nvSpPr>
          <p:cNvPr id="9" name="status PLANNED"/>
          <p:cNvSpPr txBox="1"/>
          <p:nvPr/>
        </p:nvSpPr>
        <p:spPr>
          <a:xfrm>
            <a:off x="9509760" y="311810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10" name="card"/>
          <p:cNvSpPr/>
          <p:nvPr/>
        </p:nvSpPr>
        <p:spPr>
          <a:xfrm>
            <a:off x="9326880" y="3703320"/>
            <a:ext cx="23134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9509760" y="38130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  Temporal conditioning</a:t>
            </a:r>
            <a:endParaRPr lang="en-US" sz="1300" dirty="0"/>
          </a:p>
        </p:txBody>
      </p:sp>
      <p:sp>
        <p:nvSpPr>
          <p:cNvPr id="12" name="status DEFERRED"/>
          <p:cNvSpPr txBox="1"/>
          <p:nvPr/>
        </p:nvSpPr>
        <p:spPr>
          <a:xfrm>
            <a:off x="9509760" y="430682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DEFERRED</a:t>
            </a:r>
            <a:endParaRPr lang="en-US" sz="1000" dirty="0"/>
          </a:p>
        </p:txBody>
      </p:sp>
      <p:sp>
        <p:nvSpPr>
          <p:cNvPr id="13" name="card"/>
          <p:cNvSpPr/>
          <p:nvPr/>
        </p:nvSpPr>
        <p:spPr>
          <a:xfrm>
            <a:off x="9326880" y="4892040"/>
            <a:ext cx="2313432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509760" y="5001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4  Validation harness</a:t>
            </a:r>
            <a:endParaRPr lang="en-US" sz="1300" dirty="0"/>
          </a:p>
        </p:txBody>
      </p:sp>
      <p:sp>
        <p:nvSpPr>
          <p:cNvPr id="15" name="status IN PROGRESS"/>
          <p:cNvSpPr txBox="1"/>
          <p:nvPr/>
        </p:nvSpPr>
        <p:spPr>
          <a:xfrm>
            <a:off x="9509760" y="549554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5989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Stage 3 deferred: multi-temporal conditioning is already published (UnCRtainTS, CGD-Net).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Dataset and preprocessing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630936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5" name="dataset circle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dataset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31874"/>
            <a:ext cx="285293" cy="28529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54480" y="16002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SEN12MS-CR (Ebel et al., 2021)</a:t>
            </a:r>
            <a:endParaRPr lang="en-US" sz="1800" dirty="0"/>
          </a:p>
        </p:txBody>
      </p:sp>
      <p:sp>
        <p:nvSpPr>
          <p:cNvPr id="8" name="status DONE"/>
          <p:cNvSpPr txBox="1"/>
          <p:nvPr/>
        </p:nvSpPr>
        <p:spPr>
          <a:xfrm>
            <a:off x="5303520" y="17373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regions of interest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78892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278892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seasons (2018)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754880" y="23774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122,218</a:t>
            </a:r>
            <a:endParaRPr lang="en-US" sz="3000" dirty="0"/>
          </a:p>
        </p:txBody>
      </p:sp>
      <p:sp>
        <p:nvSpPr>
          <p:cNvPr id="14" name="Text 10"/>
          <p:cNvSpPr txBox="1"/>
          <p:nvPr/>
        </p:nvSpPr>
        <p:spPr>
          <a:xfrm>
            <a:off x="475488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S1 / cloudy S2 / clear S2 triplets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22960" y="37033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S1: VV + VH  ·  S2: 13 bands  ·  256 × 256 px patches. Used here: spring ROIs.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7159752" y="1371600"/>
            <a:ext cx="4480560" cy="2971800"/>
          </a:xfrm>
          <a:prstGeom prst="roundRect">
            <a:avLst>
              <a:gd name="adj" fmla="val 2462"/>
            </a:avLst>
          </a:prstGeom>
          <a:solidFill>
            <a:schemeClr val="bg2"/>
          </a:solidFill>
          <a:ln/>
        </p:spPr>
      </p:sp>
      <p:sp>
        <p:nvSpPr>
          <p:cNvPr id="17" name="india circle"/>
          <p:cNvSpPr/>
          <p:nvPr/>
        </p:nvSpPr>
        <p:spPr>
          <a:xfrm>
            <a:off x="7434072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india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5746" y="1731874"/>
            <a:ext cx="285293" cy="28529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165592" y="1600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Indian Kharif benchmark</a:t>
            </a:r>
            <a:endParaRPr lang="en-US" sz="1800" dirty="0"/>
          </a:p>
        </p:txBody>
      </p:sp>
      <p:sp>
        <p:nvSpPr>
          <p:cNvPr id="20" name="status PLANNED"/>
          <p:cNvSpPr txBox="1"/>
          <p:nvPr/>
        </p:nvSpPr>
        <p:spPr>
          <a:xfrm>
            <a:off x="7434072" y="233172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7434072" y="2743200"/>
            <a:ext cx="4023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Jul–Oct Sentinel-1/2 over Indian crop districts via Google Earth Engine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Real monsoon cloud masks on rare clear Kharif scenes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Crop labels for downstream classification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4572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Preprocessing (implemented)</a:t>
            </a:r>
            <a:endParaRPr lang="en-US" sz="1400" dirty="0"/>
          </a:p>
        </p:txBody>
      </p:sp>
      <p:sp>
        <p:nvSpPr>
          <p:cNvPr id="23" name="preprocessing step"/>
          <p:cNvSpPr txBox="1"/>
          <p:nvPr/>
        </p:nvSpPr>
        <p:spPr>
          <a:xfrm>
            <a:off x="548640" y="4983480"/>
            <a:ext cx="1984248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Match triplets by (ROI, scene, patch)</a:t>
            </a:r>
            <a:endParaRPr lang="en-US" sz="1300" dirty="0"/>
          </a:p>
        </p:txBody>
      </p:sp>
      <p:sp>
        <p:nvSpPr>
          <p:cNvPr id="24" name="arrow"/>
          <p:cNvSpPr/>
          <p:nvPr/>
        </p:nvSpPr>
        <p:spPr>
          <a:xfrm>
            <a:off x="2587752" y="5358384"/>
            <a:ext cx="182880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5" name="preprocessing step"/>
          <p:cNvSpPr txBox="1"/>
          <p:nvPr/>
        </p:nvSpPr>
        <p:spPr>
          <a:xfrm>
            <a:off x="2807208" y="4983480"/>
            <a:ext cx="1984248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S1 dB clipped (VV −25…0, VH −32.5…0) → [0, 1]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>
            <a:off x="4846320" y="5358384"/>
            <a:ext cx="182880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7" name="preprocessing step"/>
          <p:cNvSpPr txBox="1"/>
          <p:nvPr/>
        </p:nvSpPr>
        <p:spPr>
          <a:xfrm>
            <a:off x="5065776" y="4983480"/>
            <a:ext cx="1984248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S2 clipped 0–10000, ÷ 10000</a:t>
            </a:r>
            <a:endParaRPr lang="en-US" sz="1300" dirty="0"/>
          </a:p>
        </p:txBody>
      </p:sp>
      <p:sp>
        <p:nvSpPr>
          <p:cNvPr id="28" name="arrow"/>
          <p:cNvSpPr/>
          <p:nvPr/>
        </p:nvSpPr>
        <p:spPr>
          <a:xfrm>
            <a:off x="7104888" y="5358384"/>
            <a:ext cx="182880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29" name="preprocessing step"/>
          <p:cNvSpPr txBox="1"/>
          <p:nvPr/>
        </p:nvSpPr>
        <p:spPr>
          <a:xfrm>
            <a:off x="7324344" y="4983480"/>
            <a:ext cx="1984248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Split by scene: 15% held out</a:t>
            </a:r>
            <a:endParaRPr lang="en-US" sz="1300" dirty="0"/>
          </a:p>
        </p:txBody>
      </p:sp>
      <p:sp>
        <p:nvSpPr>
          <p:cNvPr id="30" name="arrow"/>
          <p:cNvSpPr/>
          <p:nvPr/>
        </p:nvSpPr>
        <p:spPr>
          <a:xfrm>
            <a:off x="9363456" y="5358384"/>
            <a:ext cx="182880" cy="256032"/>
          </a:xfrm>
          <a:prstGeom prst="chevron">
            <a:avLst/>
          </a:prstGeom>
          <a:solidFill>
            <a:schemeClr val="accent5"/>
          </a:solidFill>
          <a:ln/>
        </p:spPr>
      </p:sp>
      <p:sp>
        <p:nvSpPr>
          <p:cNvPr id="31" name="preprocessing step"/>
          <p:cNvSpPr txBox="1"/>
          <p:nvPr/>
        </p:nvSpPr>
        <p:spPr>
          <a:xfrm>
            <a:off x="9582912" y="4983480"/>
            <a:ext cx="1984248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Cache as .npy memmaps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Proposed model: SAR-conditioned diffusion bridge</a:t>
            </a:r>
            <a:endParaRPr lang="en-US" sz="3000" dirty="0"/>
          </a:p>
        </p:txBody>
      </p:sp>
      <p:sp>
        <p:nvSpPr>
          <p:cNvPr id="4" name="status PLANNED"/>
          <p:cNvSpPr txBox="1"/>
          <p:nvPr/>
        </p:nvSpPr>
        <p:spPr>
          <a:xfrm>
            <a:off x="9281160" y="379476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5" name="input S1 SAR"/>
          <p:cNvSpPr txBox="1"/>
          <p:nvPr/>
        </p:nvSpPr>
        <p:spPr>
          <a:xfrm>
            <a:off x="548640" y="146304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S1 SAR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2 ch (VV, VH)</a:t>
            </a:r>
            <a:endParaRPr lang="en-US" sz="1400" dirty="0"/>
          </a:p>
        </p:txBody>
      </p:sp>
      <p:sp>
        <p:nvSpPr>
          <p:cNvPr id="6" name="input S2 masked"/>
          <p:cNvSpPr txBox="1"/>
          <p:nvPr/>
        </p:nvSpPr>
        <p:spPr>
          <a:xfrm>
            <a:off x="548640" y="246888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S2 masked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13 ch</a:t>
            </a:r>
            <a:endParaRPr lang="en-US" sz="1400" dirty="0"/>
          </a:p>
        </p:txBody>
      </p:sp>
      <p:sp>
        <p:nvSpPr>
          <p:cNvPr id="7" name="input Cloud mask"/>
          <p:cNvSpPr txBox="1"/>
          <p:nvPr/>
        </p:nvSpPr>
        <p:spPr>
          <a:xfrm>
            <a:off x="548640" y="347472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accent5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Cloud mask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 ch</a:t>
            </a:r>
            <a:endParaRPr lang="en-US" sz="1400" dirty="0"/>
          </a:p>
        </p:txBody>
      </p:sp>
      <p:sp>
        <p:nvSpPr>
          <p:cNvPr id="8" name="flow arrow"/>
          <p:cNvSpPr/>
          <p:nvPr/>
        </p:nvSpPr>
        <p:spPr>
          <a:xfrm>
            <a:off x="2395728" y="228600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9" name="card"/>
          <p:cNvSpPr/>
          <p:nvPr/>
        </p:nvSpPr>
        <p:spPr>
          <a:xfrm>
            <a:off x="2971800" y="1463040"/>
            <a:ext cx="2743200" cy="283464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154680" y="1572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Band-group attention</a:t>
            </a:r>
            <a:endParaRPr lang="en-US" sz="1400" dirty="0"/>
          </a:p>
        </p:txBody>
      </p:sp>
      <p:sp>
        <p:nvSpPr>
          <p:cNvPr id="11" name="group RGB"/>
          <p:cNvSpPr txBox="1"/>
          <p:nvPr/>
        </p:nvSpPr>
        <p:spPr>
          <a:xfrm>
            <a:off x="3154680" y="2057400"/>
            <a:ext cx="237744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RGB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 B2, B3, B4</a:t>
            </a:r>
            <a:endParaRPr lang="en-US" sz="1400" dirty="0"/>
          </a:p>
        </p:txBody>
      </p:sp>
      <p:sp>
        <p:nvSpPr>
          <p:cNvPr id="12" name="group Red-edge / NIR"/>
          <p:cNvSpPr txBox="1"/>
          <p:nvPr/>
        </p:nvSpPr>
        <p:spPr>
          <a:xfrm>
            <a:off x="3154680" y="2770632"/>
            <a:ext cx="237744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Red-edge / NIR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 B5–B8A</a:t>
            </a:r>
            <a:endParaRPr lang="en-US" sz="1400" dirty="0"/>
          </a:p>
        </p:txBody>
      </p:sp>
      <p:sp>
        <p:nvSpPr>
          <p:cNvPr id="13" name="group SWIR"/>
          <p:cNvSpPr txBox="1"/>
          <p:nvPr/>
        </p:nvSpPr>
        <p:spPr>
          <a:xfrm>
            <a:off x="3154680" y="3483864"/>
            <a:ext cx="2377440" cy="566928"/>
          </a:xfrm>
          <a:prstGeom prst="roundRect">
            <a:avLst>
              <a:gd name="adj" fmla="val 12903"/>
            </a:avLst>
          </a:prstGeom>
          <a:solidFill>
            <a:schemeClr val="bg1"/>
          </a:solidFill>
          <a:ln w="12700">
            <a:solidFill>
              <a:schemeClr val="accent6"/>
            </a:solidFill>
          </a:ln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SWIR</a:t>
            </a:r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   B11, B12</a:t>
            </a:r>
            <a:endParaRPr lang="en-US" sz="1400" dirty="0"/>
          </a:p>
        </p:txBody>
      </p:sp>
      <p:sp>
        <p:nvSpPr>
          <p:cNvPr id="14" name="flow arrow"/>
          <p:cNvSpPr/>
          <p:nvPr/>
        </p:nvSpPr>
        <p:spPr>
          <a:xfrm>
            <a:off x="5824728" y="228600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5" name="bridge"/>
          <p:cNvSpPr txBox="1"/>
          <p:nvPr/>
        </p:nvSpPr>
        <p:spPr>
          <a:xfrm>
            <a:off x="6400800" y="1463040"/>
            <a:ext cx="21945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Diffusion bridge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cloudy → clear, few-step sampling</a:t>
            </a:r>
            <a:endParaRPr lang="en-US" sz="1600" dirty="0"/>
          </a:p>
        </p:txBody>
      </p:sp>
      <p:sp>
        <p:nvSpPr>
          <p:cNvPr id="16" name="flow arrow"/>
          <p:cNvSpPr/>
          <p:nvPr/>
        </p:nvSpPr>
        <p:spPr>
          <a:xfrm>
            <a:off x="8705088" y="2286000"/>
            <a:ext cx="457200" cy="320040"/>
          </a:xfrm>
          <a:prstGeom prst="rightArrow">
            <a:avLst/>
          </a:prstGeom>
          <a:solidFill>
            <a:schemeClr val="accent5"/>
          </a:solidFill>
          <a:ln/>
        </p:spPr>
      </p:sp>
      <p:sp>
        <p:nvSpPr>
          <p:cNvPr id="17" name="output image"/>
          <p:cNvSpPr txBox="1"/>
          <p:nvPr/>
        </p:nvSpPr>
        <p:spPr>
          <a:xfrm>
            <a:off x="9281160" y="1463040"/>
            <a:ext cx="2359152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S2 recon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13 bands</a:t>
            </a:r>
            <a:endParaRPr lang="en-US" sz="1400" dirty="0"/>
          </a:p>
        </p:txBody>
      </p:sp>
      <p:sp>
        <p:nvSpPr>
          <p:cNvPr id="18" name="output sigma"/>
          <p:cNvSpPr txBox="1"/>
          <p:nvPr/>
        </p:nvSpPr>
        <p:spPr>
          <a:xfrm>
            <a:off x="9281160" y="2606040"/>
            <a:ext cx="2359152" cy="914400"/>
          </a:xfrm>
          <a:prstGeom prst="roundRect">
            <a:avLst>
              <a:gd name="adj" fmla="val 8000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Uncertainty σ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per pixel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4572000"/>
            <a:ext cx="11091672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709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Training objective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 =  L1 (13 bands)  +  λ · |NDVI(ŷ) − NDVI(y)|  +  Gaussian NLL (σ)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828800" y="557784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Spectral fidelity                                        crop-relevant index                         calibrated confidence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Implementation status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status DONE"/>
          <p:cNvSpPr txBox="1"/>
          <p:nvPr/>
        </p:nvSpPr>
        <p:spPr>
          <a:xfrm>
            <a:off x="777240" y="1581912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137160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Literature review and novelty positioning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1371600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searches; closest works checked against primary sources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176272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</p:sp>
      <p:sp>
        <p:nvSpPr>
          <p:cNvPr id="9" name="status DONE"/>
          <p:cNvSpPr txBox="1"/>
          <p:nvPr/>
        </p:nvSpPr>
        <p:spPr>
          <a:xfrm>
            <a:off x="777240" y="238658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331720" y="2176272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Data download and visual check on Colab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2176272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wget / tar of S1, cloudy S2, clear S2; rasterio triplet plots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2980944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status DONE"/>
          <p:cNvSpPr txBox="1"/>
          <p:nvPr/>
        </p:nvSpPr>
        <p:spPr>
          <a:xfrm>
            <a:off x="777240" y="3191256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331720" y="298094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Triplet matching by filename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2980944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Fixes wrong S2 paths in the first visualisation script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3785616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</p:sp>
      <p:sp>
        <p:nvSpPr>
          <p:cNvPr id="17" name="status DONE"/>
          <p:cNvSpPr txBox="1"/>
          <p:nvPr/>
        </p:nvSpPr>
        <p:spPr>
          <a:xfrm>
            <a:off x="777240" y="399592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DONE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331720" y="378561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Mask-ablation harness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3785616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Caching, real-cloud synthesis, 3 U-Net variants, 6 metrics, bootstrap CIs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4590288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21" name="status IN PROGRESS"/>
          <p:cNvSpPr txBox="1"/>
          <p:nvPr/>
        </p:nvSpPr>
        <p:spPr>
          <a:xfrm>
            <a:off x="777240" y="480060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2331720" y="459028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Running the ablation on Colab GPU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0" y="4590288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Results pending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394960"/>
            <a:ext cx="11091672" cy="694944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/>
        </p:spPr>
      </p:sp>
      <p:sp>
        <p:nvSpPr>
          <p:cNvPr id="25" name="status PLANNED"/>
          <p:cNvSpPr txBox="1"/>
          <p:nvPr/>
        </p:nvSpPr>
        <p:spPr>
          <a:xfrm>
            <a:off x="777240" y="5605272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331720" y="53949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Bridge baseline, C1–C3 modules, Kharif benchmark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0" y="5394960"/>
            <a:ext cx="4617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the ablation decides on Stage 1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Experiment 1: does a separate cloud mask help?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585216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/>
        </p:spPr>
      </p:sp>
      <p:sp>
        <p:nvSpPr>
          <p:cNvPr id="5" name="variant dot"/>
          <p:cNvSpPr/>
          <p:nvPr/>
        </p:nvSpPr>
        <p:spPr>
          <a:xfrm>
            <a:off x="749808" y="1609344"/>
            <a:ext cx="411480" cy="4114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1325880" y="14630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Input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(floor)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Cloudy image returned unchanged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548640" y="2395728"/>
            <a:ext cx="585216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/>
        </p:spPr>
      </p:sp>
      <p:sp>
        <p:nvSpPr>
          <p:cNvPr id="9" name="variant dot"/>
          <p:cNvSpPr/>
          <p:nvPr/>
        </p:nvSpPr>
        <p:spPr>
          <a:xfrm>
            <a:off x="749808" y="2633472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325880" y="24871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Single U-Net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(end-to-end)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852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[S1, cloudy S2] → clear S2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419856"/>
            <a:ext cx="585216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/>
        </p:spPr>
      </p:sp>
      <p:sp>
        <p:nvSpPr>
          <p:cNvPr id="13" name="variant dot"/>
          <p:cNvSpPr/>
          <p:nvPr/>
        </p:nvSpPr>
        <p:spPr>
          <a:xfrm>
            <a:off x="749808" y="36576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325880" y="351129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Two-stage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(Stage 1 + 2)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38770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Masker → reconstructor on [S1, S2·(1−m̂), m̂]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4443984"/>
            <a:ext cx="5852160" cy="886968"/>
          </a:xfrm>
          <a:prstGeom prst="roundRect">
            <a:avLst>
              <a:gd name="adj" fmla="val 8247"/>
            </a:avLst>
          </a:prstGeom>
          <a:solidFill>
            <a:schemeClr val="bg2"/>
          </a:solidFill>
          <a:ln/>
        </p:spPr>
      </p:sp>
      <p:sp>
        <p:nvSpPr>
          <p:cNvPr id="17" name="variant dot"/>
          <p:cNvSpPr/>
          <p:nvPr/>
        </p:nvSpPr>
        <p:spPr>
          <a:xfrm>
            <a:off x="749808" y="4681728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325880" y="45354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Oracle</a:t>
            </a:r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  (upper bound)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9011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Reconstructor given the true mask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5486400"/>
            <a:ext cx="5852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Same reconstructor size in every variant. Training clouds: real s2cloudless cloud maps transplanted onto clear patches, so the true mask is known.</a:t>
            </a:r>
            <a:endParaRPr lang="en-US" sz="1200" dirty="0"/>
          </a:p>
        </p:txBody>
      </p:sp>
      <p:graphicFrame>
        <p:nvGraphicFramePr>
          <p:cNvPr id="12" name="confi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02552" y="1371600"/>
          <a:ext cx="4937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Setting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Value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Train / test patches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3,000 / 500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Split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by scene, 15% held out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Crop, batch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128 × 128, 16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Steps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8,000 (masker 3,000)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Optimiser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AdamW, lr 2e-4, cosine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U-Net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width 32 (masker 16), depth 4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Loss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L1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Metrics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PSNR, SSIM, SAM, NDVI RMSE, cloud-only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Statistics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paired bootstrap 95% CI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Hardware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Google Colab GPU</a:t>
                      </a:r>
                      <a:endParaRPr lang="en-US" sz="1300" dirty="0"/>
                    </a:p>
                  </a:txBody>
                  <a:tcPr marL="91440" marR="91440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Novelty: key contributions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371600"/>
            <a:ext cx="2057400" cy="47091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5" name="C1 circle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42846"/>
            <a:ext cx="309067" cy="30906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24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Band-group attention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31546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Separate RGB, red-edge/NIR and SWIR branches in a SAR-conditioned generative model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212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Improved model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2807208" y="1371600"/>
            <a:ext cx="2057400" cy="47091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2" name="C2 circle"/>
          <p:cNvSpPr/>
          <p:nvPr/>
        </p:nvSpPr>
        <p:spPr>
          <a:xfrm>
            <a:off x="3035808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C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8454" y="174284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67328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2400" dirty="0"/>
          </a:p>
        </p:txBody>
      </p:sp>
      <p:sp>
        <p:nvSpPr>
          <p:cNvPr id="15" name="Text 10"/>
          <p:cNvSpPr txBox="1"/>
          <p:nvPr/>
        </p:nvSpPr>
        <p:spPr>
          <a:xfrm>
            <a:off x="3035808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NDVI-consistency loss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3035808" y="31546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Vegetation index enforced during training, not only checked afterwards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3035808" y="5212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Optimisation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5065776" y="1371600"/>
            <a:ext cx="2057400" cy="47091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19" name="C3 circle"/>
          <p:cNvSpPr/>
          <p:nvPr/>
        </p:nvSpPr>
        <p:spPr>
          <a:xfrm>
            <a:off x="5294376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7022" y="1742846"/>
            <a:ext cx="309067" cy="30906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025896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5294376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Calibrated uncertainty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294376" y="31546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Per-pixel σ from the bridge; filter unreliable pixels before NDVI / crop maps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294376" y="5212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25" name="card"/>
          <p:cNvSpPr/>
          <p:nvPr/>
        </p:nvSpPr>
        <p:spPr>
          <a:xfrm>
            <a:off x="7324344" y="1371600"/>
            <a:ext cx="2057400" cy="47091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26" name="C4 circle"/>
          <p:cNvSpPr/>
          <p:nvPr/>
        </p:nvSpPr>
        <p:spPr>
          <a:xfrm>
            <a:off x="7552944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C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5590" y="1742846"/>
            <a:ext cx="309067" cy="309067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284464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7552944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Kharif benchmark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7552944" y="31546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Real monsoon cloud masks on clear Indian Kharif scenes, with crop classification</a:t>
            </a:r>
            <a:endParaRPr lang="en-US" sz="1300" dirty="0"/>
          </a:p>
        </p:txBody>
      </p:sp>
      <p:sp>
        <p:nvSpPr>
          <p:cNvPr id="31" name="Text 24"/>
          <p:cNvSpPr txBox="1"/>
          <p:nvPr/>
        </p:nvSpPr>
        <p:spPr>
          <a:xfrm>
            <a:off x="7552944" y="5212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Dataset / application</a:t>
            </a:r>
            <a:endParaRPr lang="en-US" sz="1200" dirty="0"/>
          </a:p>
        </p:txBody>
      </p:sp>
      <p:sp>
        <p:nvSpPr>
          <p:cNvPr id="32" name="card"/>
          <p:cNvSpPr/>
          <p:nvPr/>
        </p:nvSpPr>
        <p:spPr>
          <a:xfrm>
            <a:off x="9582912" y="1371600"/>
            <a:ext cx="2057400" cy="4709160"/>
          </a:xfrm>
          <a:prstGeom prst="roundRect">
            <a:avLst>
              <a:gd name="adj" fmla="val 3556"/>
            </a:avLst>
          </a:prstGeom>
          <a:solidFill>
            <a:schemeClr val="bg2"/>
          </a:solidFill>
          <a:ln/>
        </p:spPr>
      </p:sp>
      <p:sp>
        <p:nvSpPr>
          <p:cNvPr id="33" name="C5 circle"/>
          <p:cNvSpPr/>
          <p:nvPr/>
        </p:nvSpPr>
        <p:spPr>
          <a:xfrm>
            <a:off x="9811512" y="160020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4" name="C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4158" y="1742846"/>
            <a:ext cx="309067" cy="309067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543032" y="16002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9811512" y="237744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Mask ablation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9811512" y="315468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Matched comparison of separate mask stage vs. end-to-end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9811512" y="52120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Supporting finding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What is new vs. what is already published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Already published: not claimed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SAR-conditioned diffusion bridge (DB-CR, 2025)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SAR-conditioned flow matching (CloudBreaker, 2025)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SAR–optical fusion in general (DSen2-CR, GLF-CR)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Multi-temporal conditioning (UnCRtainTS, CGD-Net)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Synthetic cloud injection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Indian reconstruction → crop maps (Gupta &amp; Verma)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245352" y="1371600"/>
            <a:ext cx="5394960" cy="3520440"/>
          </a:xfrm>
          <a:prstGeom prst="roundRect">
            <a:avLst>
              <a:gd name="adj" fmla="val 2078"/>
            </a:avLst>
          </a:prstGeom>
          <a:solidFill>
            <a:schemeClr val="tx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519672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New in this work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19672" y="210312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Band-group attention inside the bridge (C1)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NDVI term in the training loss (C2)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Calibrated per-pixel uncertainty from a generative model (C3)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Released Kharif benchmark + crop classification with SAR (C4)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Clean mask vs. end-to-end ablation (C5)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548640" y="5120640"/>
            <a:ext cx="11091672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51663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"To our knowledge, no work identified in our review jointly evaluates a SAR-conditioned all-13-band diffusion-bridge model with band-group processing, an NDVI-consistency loss, calibrated uncertainty and an Indian Kharif crop benchmark."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Experimental results: first run pending</a:t>
            </a:r>
            <a:endParaRPr lang="en-US" sz="3000" dirty="0"/>
          </a:p>
        </p:txBody>
      </p:sp>
      <p:graphicFrame>
        <p:nvGraphicFramePr>
          <p:cNvPr id="15" name="resul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005840"/>
                <a:gridCol w="1188720"/>
                <a:gridCol w="914400"/>
                <a:gridCol w="91440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Variant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PSNR ↑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PSNR cloud ↑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SSIM ↑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SAM° ↓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NDVI RMSE ↓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Input (floor)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Single U-Net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Two-stage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Oracle mask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i="1" dirty="0">
                          <a:solidFill>
                            <a:schemeClr val="accent5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73152" marR="73152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Reported twice: synthetic clouds (exact ground truth) and real SEN12MS-CR pairs (indicative).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7799832" y="1371600"/>
            <a:ext cx="3840480" cy="4709160"/>
          </a:xfrm>
          <a:prstGeom prst="roundRect">
            <a:avLst>
              <a:gd name="adj" fmla="val 1905"/>
            </a:avLst>
          </a:prstGeom>
          <a:solidFill>
            <a:schemeClr val="tx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8074152" y="15544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6"/>
                </a:solidFill>
              </a:rPr>
              <a:t>How the result decides Stage 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074152" y="23774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Two-stage ≈ oracle &gt; single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Keep the separate masker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Single ≥ two-stage</a:t>
            </a:r>
            <a:endParaRPr lang="en-US" sz="15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Drop Stage 1, go end-to-end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Oracle ≫ two-stage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Masker is the bottleneck; improve it first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4983480"/>
            <a:ext cx="69494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0" name="verified circle"/>
          <p:cNvSpPr/>
          <p:nvPr/>
        </p:nvSpPr>
        <p:spPr>
          <a:xfrm>
            <a:off x="777240" y="52120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verifie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5365699"/>
            <a:ext cx="332842" cy="33284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645920" y="50292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pipeline verified on Colab: triplets download, extract and plot correctly (S1 VV / cloudy RGB / clear RGB).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Comparison with existing methods on SEN12MS-CR</a:t>
            </a:r>
            <a:endParaRPr lang="en-US" sz="3000" dirty="0"/>
          </a:p>
        </p:txBody>
      </p:sp>
      <p:graphicFrame>
        <p:nvGraphicFramePr>
          <p:cNvPr id="4" name="psnr chart" descr=""/>
          <p:cNvGraphicFramePr/>
          <p:nvPr/>
        </p:nvGraphicFramePr>
        <p:xfrm>
          <a:off x="548640" y="137160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669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Axis starts at 28 dB. Source: DB-CR Table I (Hu et al., 2025).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7434072" y="1371600"/>
            <a:ext cx="4206240" cy="470916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7708392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Our targets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08392" y="20574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Within about 1 dB PSNR of DB-CR (33.47 dB, SSIM 0.922) on a T4 budget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Better than the matched baseline on NIR, red-edge and SWIR error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Lower NDVI error, calibrated uncertainty, better Kharif crop classification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7708392" y="48463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Original plan targets (PSNR &gt; 28 dB, SSIM &gt; 0.88) were below DSen2-CR (2020) and have been raised.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Discussion, limitations and risks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4" name="Compute circle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5" name="Comput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77759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Compute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Diffusion-bridge training on a Colab T4 is tight: 128 px crops and few-step sampling.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315968" y="137160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9" name="Clear Kharif scenes are rare circle"/>
          <p:cNvSpPr/>
          <p:nvPr/>
        </p:nvSpPr>
        <p:spPr>
          <a:xfrm>
            <a:off x="4590288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Clear Kharif scenes are ra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962" y="177759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21808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Clear Kharif scenes are rare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90288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benchmark needs clear Jul–Oct scenes; check GEE availability early.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083296" y="137160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4" name="Real-cloud evaluation is indicative circle"/>
          <p:cNvSpPr/>
          <p:nvPr/>
        </p:nvSpPr>
        <p:spPr>
          <a:xfrm>
            <a:off x="8357616" y="164592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Real-cloud evaluation is indicativ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0" y="177759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89136" y="1645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Real-cloud evaluation is indicative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357616" y="237744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 target is a different date; s2cloudless masks miss shadows.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548640" y="374904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19" name="Synthetic vs. real clouds circle"/>
          <p:cNvSpPr/>
          <p:nvPr/>
        </p:nvSpPr>
        <p:spPr>
          <a:xfrm>
            <a:off x="822960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Synthetic vs. real clouds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4" y="415503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554480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Synthetic vs. real clouds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Transplanted clouds may not match thick monsoon cloud; report the gap.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315968" y="374904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4" name="Literature gap needs checking circle"/>
          <p:cNvSpPr/>
          <p:nvPr/>
        </p:nvSpPr>
        <p:spPr>
          <a:xfrm>
            <a:off x="4590288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Literature gap needs checking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1962" y="415503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21808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Literature gap needs checking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590288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Based on AI-assisted searches; manual Scholar check before submission.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8083296" y="3749040"/>
            <a:ext cx="3557016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29" name="No DB-CR code circle"/>
          <p:cNvSpPr/>
          <p:nvPr/>
        </p:nvSpPr>
        <p:spPr>
          <a:xfrm>
            <a:off x="8357616" y="40233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No DB-CR cod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290" y="415503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089136" y="4023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 DB-CR code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8357616" y="47548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 comparison uses our own matched baseline plus public GLF-CR / UnCRtainTS.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Project and research outcomes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4" name="card"/>
          <p:cNvSpPr/>
          <p:nvPr/>
        </p:nvSpPr>
        <p:spPr>
          <a:xfrm>
            <a:off x="548640" y="2313432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</p:spPr>
      </p:sp>
      <p:sp>
        <p:nvSpPr>
          <p:cNvPr id="5" name="card"/>
          <p:cNvSpPr/>
          <p:nvPr/>
        </p:nvSpPr>
        <p:spPr>
          <a:xfrm>
            <a:off x="548640" y="3255264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6" name="card"/>
          <p:cNvSpPr/>
          <p:nvPr/>
        </p:nvSpPr>
        <p:spPr>
          <a:xfrm>
            <a:off x="548640" y="4197096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/>
        </p:spPr>
      </p:sp>
      <p:sp>
        <p:nvSpPr>
          <p:cNvPr id="7" name="card"/>
          <p:cNvSpPr/>
          <p:nvPr/>
        </p:nvSpPr>
        <p:spPr>
          <a:xfrm>
            <a:off x="548640" y="5138928"/>
            <a:ext cx="11091672" cy="804672"/>
          </a:xfrm>
          <a:prstGeom prst="roundRect">
            <a:avLst>
              <a:gd name="adj" fmla="val 9091"/>
            </a:avLst>
          </a:prstGeom>
          <a:solidFill>
            <a:schemeClr val="bg2"/>
          </a:solidFill>
          <a:ln/>
        </p:spPr>
      </p:sp>
      <p:sp>
        <p:nvSpPr>
          <p:cNvPr id="8" name="Journal paper circle"/>
          <p:cNvSpPr/>
          <p:nvPr/>
        </p:nvSpPr>
        <p:spPr>
          <a:xfrm>
            <a:off x="777240" y="1499616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Journal pap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631290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54480" y="137160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Journal paper</a:t>
            </a:r>
            <a:endParaRPr lang="en-US" sz="1600" dirty="0"/>
          </a:p>
        </p:txBody>
      </p:sp>
      <p:sp>
        <p:nvSpPr>
          <p:cNvPr id="11" name="status PLANNED"/>
          <p:cNvSpPr txBox="1"/>
          <p:nvPr/>
        </p:nvSpPr>
        <p:spPr>
          <a:xfrm>
            <a:off x="4389120" y="1636776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989320" y="1371600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SEN12MS-CR results and the Kharif benchmark (C1–C4)</a:t>
            </a:r>
            <a:endParaRPr lang="en-US" sz="1400" dirty="0"/>
          </a:p>
        </p:txBody>
      </p:sp>
      <p:sp>
        <p:nvSpPr>
          <p:cNvPr id="13" name="Conference paper circle"/>
          <p:cNvSpPr/>
          <p:nvPr/>
        </p:nvSpPr>
        <p:spPr>
          <a:xfrm>
            <a:off x="777240" y="2441448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4" name="Conference paper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573122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54480" y="23134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Conference paper</a:t>
            </a:r>
            <a:endParaRPr lang="en-US" sz="1600" dirty="0"/>
          </a:p>
        </p:txBody>
      </p:sp>
      <p:sp>
        <p:nvSpPr>
          <p:cNvPr id="16" name="status PLANNED"/>
          <p:cNvSpPr txBox="1"/>
          <p:nvPr/>
        </p:nvSpPr>
        <p:spPr>
          <a:xfrm>
            <a:off x="4389120" y="2578608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5989320" y="2313432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Candidate: mask vs. end-to-end ablation (C5) as a short paper</a:t>
            </a:r>
            <a:endParaRPr lang="en-US" sz="1400" dirty="0"/>
          </a:p>
        </p:txBody>
      </p:sp>
      <p:sp>
        <p:nvSpPr>
          <p:cNvPr id="18" name="Patent circle"/>
          <p:cNvSpPr/>
          <p:nvPr/>
        </p:nvSpPr>
        <p:spPr>
          <a:xfrm>
            <a:off x="777240" y="338328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9" name="Patent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914" y="351495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554480" y="325526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Patent</a:t>
            </a:r>
            <a:endParaRPr lang="en-US" sz="1600" dirty="0"/>
          </a:p>
        </p:txBody>
      </p:sp>
      <p:sp>
        <p:nvSpPr>
          <p:cNvPr id="21" name="status NOT FILED"/>
          <p:cNvSpPr txBox="1"/>
          <p:nvPr/>
        </p:nvSpPr>
        <p:spPr>
          <a:xfrm>
            <a:off x="4389120" y="3520440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NOT FILED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5989320" y="3255264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planned at this stage; reassess after results</a:t>
            </a:r>
            <a:endParaRPr lang="en-US" sz="1400" dirty="0"/>
          </a:p>
        </p:txBody>
      </p:sp>
      <p:sp>
        <p:nvSpPr>
          <p:cNvPr id="23" name="Prototype / software circle"/>
          <p:cNvSpPr/>
          <p:nvPr/>
        </p:nvSpPr>
        <p:spPr>
          <a:xfrm>
            <a:off x="777240" y="4325112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4" name="Prototype / softwar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914" y="4456786"/>
            <a:ext cx="285293" cy="28529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554480" y="419709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Prototype / software</a:t>
            </a:r>
            <a:endParaRPr lang="en-US" sz="1600" dirty="0"/>
          </a:p>
        </p:txBody>
      </p:sp>
      <p:sp>
        <p:nvSpPr>
          <p:cNvPr id="26" name="status IN PROGRESS"/>
          <p:cNvSpPr txBox="1"/>
          <p:nvPr/>
        </p:nvSpPr>
        <p:spPr>
          <a:xfrm>
            <a:off x="4389120" y="4462272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bg1"/>
                </a:solidFill>
              </a:rPr>
              <a:t>IN PROGRESS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989320" y="4197096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pipeline and ablation harness in the project repository</a:t>
            </a:r>
            <a:endParaRPr lang="en-US" sz="1400" dirty="0"/>
          </a:p>
        </p:txBody>
      </p:sp>
      <p:sp>
        <p:nvSpPr>
          <p:cNvPr id="28" name="Dataset / tool circle"/>
          <p:cNvSpPr/>
          <p:nvPr/>
        </p:nvSpPr>
        <p:spPr>
          <a:xfrm>
            <a:off x="777240" y="5266944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9" name="Dataset / tool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914" y="5398618"/>
            <a:ext cx="285293" cy="28529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554480" y="513892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Dataset / tool</a:t>
            </a:r>
            <a:endParaRPr lang="en-US" sz="1600" dirty="0"/>
          </a:p>
        </p:txBody>
      </p:sp>
      <p:sp>
        <p:nvSpPr>
          <p:cNvPr id="31" name="status PLANNED"/>
          <p:cNvSpPr txBox="1"/>
          <p:nvPr/>
        </p:nvSpPr>
        <p:spPr>
          <a:xfrm>
            <a:off x="4389120" y="5404104"/>
            <a:ext cx="13258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chemeClr val="tx1"/>
                </a:solidFill>
              </a:rPr>
              <a:t>PLANNED</a:t>
            </a:r>
            <a:endParaRPr lang="en-US" sz="1000" dirty="0"/>
          </a:p>
        </p:txBody>
      </p:sp>
      <p:sp>
        <p:nvSpPr>
          <p:cNvPr id="32" name="Text 25"/>
          <p:cNvSpPr txBox="1"/>
          <p:nvPr/>
        </p:nvSpPr>
        <p:spPr>
          <a:xfrm>
            <a:off x="5989320" y="5138928"/>
            <a:ext cx="5486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Kharif benchmark: tile IDs, dates, masks, crop labels, splits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next steps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10698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SAR can recover optical bands under monsoon cloud, but no published model combines all-band generative SAR fusion with spectral, uncertainty and crop-level checks.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Done: literature review, novelty positioning, verified data pipeline and a controlled ablation harness.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chemeClr val="bg2"/>
                </a:solidFill>
              </a:rPr>
              <a:t>Pending: all model training and results; the Kharif benchmark.</a:t>
            </a:r>
            <a:endParaRPr lang="en-US" sz="2000" dirty="0"/>
          </a:p>
        </p:txBody>
      </p:sp>
      <p:sp>
        <p:nvSpPr>
          <p:cNvPr id="4" name="step dot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step line"/>
          <p:cNvSpPr/>
          <p:nvPr/>
        </p:nvSpPr>
        <p:spPr>
          <a:xfrm>
            <a:off x="1371600" y="4754880"/>
            <a:ext cx="144475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5212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Run mask ablation</a:t>
            </a:r>
            <a:endParaRPr lang="en-US" sz="1400" dirty="0"/>
          </a:p>
        </p:txBody>
      </p:sp>
      <p:sp>
        <p:nvSpPr>
          <p:cNvPr id="8" name="step dot"/>
          <p:cNvSpPr/>
          <p:nvPr/>
        </p:nvSpPr>
        <p:spPr>
          <a:xfrm>
            <a:off x="2907792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907792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step line"/>
          <p:cNvSpPr/>
          <p:nvPr/>
        </p:nvSpPr>
        <p:spPr>
          <a:xfrm>
            <a:off x="3547872" y="4754880"/>
            <a:ext cx="144475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07792" y="5212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Bridge baseline on SEN12MS-CR</a:t>
            </a:r>
            <a:endParaRPr lang="en-US" sz="1400" dirty="0"/>
          </a:p>
        </p:txBody>
      </p:sp>
      <p:sp>
        <p:nvSpPr>
          <p:cNvPr id="12" name="step dot"/>
          <p:cNvSpPr/>
          <p:nvPr/>
        </p:nvSpPr>
        <p:spPr>
          <a:xfrm>
            <a:off x="5084064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84064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step line"/>
          <p:cNvSpPr/>
          <p:nvPr/>
        </p:nvSpPr>
        <p:spPr>
          <a:xfrm>
            <a:off x="5724144" y="4754880"/>
            <a:ext cx="144475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84064" y="5212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Add C1–C3 + ablations</a:t>
            </a:r>
            <a:endParaRPr lang="en-US" sz="1400" dirty="0"/>
          </a:p>
        </p:txBody>
      </p:sp>
      <p:sp>
        <p:nvSpPr>
          <p:cNvPr id="16" name="step dot"/>
          <p:cNvSpPr/>
          <p:nvPr/>
        </p:nvSpPr>
        <p:spPr>
          <a:xfrm>
            <a:off x="7260336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260336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step line"/>
          <p:cNvSpPr/>
          <p:nvPr/>
        </p:nvSpPr>
        <p:spPr>
          <a:xfrm>
            <a:off x="7900416" y="4754880"/>
            <a:ext cx="1444752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60336" y="5212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Kharif benchmark + crop classification</a:t>
            </a:r>
            <a:endParaRPr lang="en-US" sz="1400" dirty="0"/>
          </a:p>
        </p:txBody>
      </p:sp>
      <p:sp>
        <p:nvSpPr>
          <p:cNvPr id="20" name="step dot"/>
          <p:cNvSpPr/>
          <p:nvPr/>
        </p:nvSpPr>
        <p:spPr>
          <a:xfrm>
            <a:off x="9436608" y="44805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36608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436608" y="52120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Paper + benchmark release</a:t>
            </a:r>
            <a:endParaRPr lang="en-US" sz="14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731520" y="36576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2200" dirty="0"/>
          </a:p>
        </p:txBody>
      </p:sp>
      <p:sp>
        <p:nvSpPr>
          <p:cNvPr id="25" name="Text 0"/>
          <p:cNvSpPr/>
          <p:nvPr>
            <p:ph idx="102" type="body" hasCustomPrompt="1"/>
          </p:nvPr>
        </p:nvSpPr>
        <p:spPr>
          <a:xfrm>
            <a:off x="731520" y="5394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167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Ebel, P., Meraner, A., Schmitt, M., &amp; Zhu, X. X. (2021). Multisensor data fusion for cloud removal in global and all-season Sentinel-2 imagery (SEN12MS-CR). IEEE TGRS 59.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Meraner, A., Ebel, P., Zhu, X. X., &amp; Schmitt, M. (2020). Cloud removal in Sentinel-2 imagery using a deep residual neural network and SAR-optical data fusion (DSen2-CR). ISPRS J. Photogramm. Remote Sens.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Xu, F., et al. (2022). GLF-CR: SAR-enhanced cloud removal with global–local fusion. ISPRS J. Photogramm. Remote Sens.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Ebel, P., Garnot, V. S. F., Schmitt, M., Wegner, J. D., &amp; Zhu, X. X. (2023). UnCRtainTS: Uncertainty quantification for cloud removal in optical satellite time series. IEEE TGRS. doi:10.1109/TGRS.2023.3283920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Zou, X., et al. (2024). DiffCR: A fast conditional diffusion framework for cloud removal from optical satellite images. IEEE TGRS 62. doi:10.1109/TGRS.2024.3373920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Hu, Y., Lohit, S., Kamilov, U. S., &amp; Marks, T. K. (2025). Multimodal diffusion bridge with attention-based SAR fusion for satellite image cloud removal (DB-CR). IEEE TGRS 63. arXiv:2504.03607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Ahmed, S. S., Nowreen, S., &amp; Rahman, M. S. (2025). CloudBreaker: Conditional flow matching on Sentinel-1 for Sentinel-2. arXiv:2508.03608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Gupta, S., &amp; Verma, P. A. (2025). Generating cloud-free Sentinel-2 images for enhanced in-season crop type classification: a case study. doi:10.1007/s41976-025-00254-z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Prashnani, M., &amp; Justice, C. (2026). Evaluating SAR-derived phenological metrics for monsoon (Kharif) crop monitoring: insights from Central India. Remote Sens. 18. doi:10.3390/rs18081238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Tsardanidis, I., et al. (2024). Cloud gap-filling with deep learning for improved grassland monitoring. arXiv:2403.09554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Gorelick, N., et al. (2017). Google Earth Engine: Planetary-scale geospatial analysis for everyone. Remote Sens. Environ.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eWolke Monsoon">
  <a:themeElements>
    <a:clrScheme name="dieWolke Monsoon">
      <a:dk1>
        <a:srgbClr val="1B2233"/>
      </a:dk1>
      <a:lt1>
        <a:srgbClr val="FFFFFF"/>
      </a:lt1>
      <a:dk2>
        <a:srgbClr val="0F2A3D"/>
      </a:dk2>
      <a:lt2>
        <a:srgbClr val="EEF3F2"/>
      </a:lt2>
      <a:accent1>
        <a:srgbClr val="2E7D5B"/>
      </a:accent1>
      <a:accent2>
        <a:srgbClr val="2F6F99"/>
      </a:accent2>
      <a:accent3>
        <a:srgbClr val="E0A43A"/>
      </a:accent3>
      <a:accent4>
        <a:srgbClr val="B8483A"/>
      </a:accent4>
      <a:accent5>
        <a:srgbClr val="6E7F8C"/>
      </a:accent5>
      <a:accent6>
        <a:srgbClr val="8FC9AE"/>
      </a:accent6>
      <a:hlink>
        <a:srgbClr val="2F6F99"/>
      </a:hlink>
      <a:folHlink>
        <a:srgbClr val="6B5B95"/>
      </a:folHlink>
    </a:clrScheme>
    <a:fontScheme name="dieWolke Monso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dieWolke: SAR-Guided Cloud Removal for Sentinel-2</dc:title>
  <dc:subject>Project progress review</dc:subject>
  <dc:creator>PptxGenJS</dc:creator>
  <cp:lastModifiedBy>PptxGenJS</cp:lastModifiedBy>
  <cp:revision>1</cp:revision>
  <dcterms:created xsi:type="dcterms:W3CDTF">2026-10-13T02:44:21Z</dcterms:created>
  <dcterms:modified xsi:type="dcterms:W3CDTF">2026-10-13T02:44:21Z</dcterms:modified>
</cp:coreProperties>
</file>